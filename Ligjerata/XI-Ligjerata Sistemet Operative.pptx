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8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850CB54B-66FC-4AC1-A3DA-349182326314}"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Default 1">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03C22659-F9A3-44DC-B77A-1AE1CD1F5EEE}"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6" name="PlaceHolder 2"/>
          <p:cNvSpPr>
            <a:spLocks noGrp="1"/>
          </p:cNvSpPr>
          <p:nvPr>
            <p:ph type="sldNum" idx="2"/>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rgbClr val="000000"/>
                </a:solidFill>
                <a:latin typeface="Times New Roman"/>
              </a:defRPr>
            </a:lvl1pPr>
          </a:lstStyle>
          <a:p>
            <a:pPr indent="0" algn="r">
              <a:lnSpc>
                <a:spcPct val="100000"/>
              </a:lnSpc>
              <a:buNone/>
              <a:tabLst>
                <a:tab pos="0" algn="l"/>
              </a:tabLst>
            </a:pPr>
            <a:fld id="{ED8D787C-DB20-49FD-A88F-90071B129105}"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
        <p:nvSpPr>
          <p:cNvPr id="2" name="PlaceHolder 3"/>
          <p:cNvSpPr>
            <a:spLocks noGrp="1"/>
          </p:cNvSpPr>
          <p:nvPr>
            <p:ph type="dt" idx="3"/>
          </p:nvPr>
        </p:nvSpPr>
        <p:spPr>
          <a:xfrm>
            <a:off x="504000" y="5165280"/>
            <a:ext cx="2347920" cy="39024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3"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6" name="PlaceHolder 2"/>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7" name="PlaceHolder 3"/>
          <p:cNvSpPr>
            <a:spLocks noGrp="1"/>
          </p:cNvSpPr>
          <p:nvPr>
            <p:ph type="ftr" idx="4"/>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8" name="PlaceHolder 4"/>
          <p:cNvSpPr>
            <a:spLocks noGrp="1"/>
          </p:cNvSpPr>
          <p:nvPr>
            <p:ph type="sldNum" idx="5"/>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rgbClr val="000000"/>
                </a:solidFill>
                <a:latin typeface="Times New Roman"/>
              </a:defRPr>
            </a:lvl1pPr>
          </a:lstStyle>
          <a:p>
            <a:pPr indent="0" algn="r">
              <a:lnSpc>
                <a:spcPct val="100000"/>
              </a:lnSpc>
              <a:buNone/>
              <a:tabLst>
                <a:tab pos="0" algn="l"/>
              </a:tabLst>
            </a:pPr>
            <a:fld id="{B2460CF3-1947-4D3E-A966-927F0FB69AB3}"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
        <p:nvSpPr>
          <p:cNvPr id="9" name="PlaceHolder 5"/>
          <p:cNvSpPr>
            <a:spLocks noGrp="1"/>
          </p:cNvSpPr>
          <p:nvPr>
            <p:ph type="dt" idx="6"/>
          </p:nvPr>
        </p:nvSpPr>
        <p:spPr>
          <a:xfrm>
            <a:off x="504000" y="5165280"/>
            <a:ext cx="2347920" cy="39024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strike="noStrike" spc="-1">
                <a:solidFill>
                  <a:srgbClr val="000000"/>
                </a:solidFill>
                <a:latin typeface="Arial"/>
              </a:rPr>
              <a:t>Sistemet Operative</a:t>
            </a:r>
          </a:p>
        </p:txBody>
      </p:sp>
      <p:sp>
        <p:nvSpPr>
          <p:cNvPr id="13" name="PlaceHolder 2"/>
          <p:cNvSpPr>
            <a:spLocks noGrp="1"/>
          </p:cNvSpPr>
          <p:nvPr>
            <p:ph/>
          </p:nvPr>
        </p:nvSpPr>
        <p:spPr>
          <a:xfrm>
            <a:off x="457200" y="1143000"/>
            <a:ext cx="9071280" cy="4114440"/>
          </a:xfrm>
          <a:prstGeom prst="rect">
            <a:avLst/>
          </a:prstGeom>
          <a:noFill/>
          <a:ln w="0">
            <a:noFill/>
          </a:ln>
        </p:spPr>
        <p:txBody>
          <a:bodyPr lIns="0" tIns="0" rIns="0" bIns="0" anchor="t">
            <a:normAutofit fontScale="73333"/>
          </a:bodyPr>
          <a:lstStyle/>
          <a:p>
            <a:pPr marL="432000" indent="0" algn="ctr">
              <a:lnSpc>
                <a:spcPct val="100000"/>
              </a:lnSpc>
              <a:spcBef>
                <a:spcPts val="1191"/>
              </a:spcBef>
              <a:spcAft>
                <a:spcPts val="992"/>
              </a:spcAft>
              <a:buNone/>
              <a:tabLst>
                <a:tab pos="0" algn="l"/>
              </a:tabLst>
            </a:pPr>
            <a:r>
              <a:rPr lang="en-US" sz="2600" b="0" strike="noStrike" spc="-1">
                <a:solidFill>
                  <a:srgbClr val="000000"/>
                </a:solidFill>
                <a:latin typeface="Arial"/>
              </a:rPr>
              <a:t>Sistemi Operativ dhe Ndarja e tij</a:t>
            </a:r>
          </a:p>
          <a:p>
            <a:pPr marL="432000" indent="0">
              <a:lnSpc>
                <a:spcPct val="100000"/>
              </a:lnSpc>
              <a:spcBef>
                <a:spcPts val="1417"/>
              </a:spcBef>
              <a:buNone/>
              <a:tabLst>
                <a:tab pos="0" algn="l"/>
              </a:tabLst>
            </a:pPr>
            <a:endParaRPr lang="en-US" sz="3200" b="0" strike="noStrike" spc="-1">
              <a:solidFill>
                <a:srgbClr val="000000"/>
              </a:solidFill>
              <a:latin typeface="Arial"/>
            </a:endParaRPr>
          </a:p>
          <a:p>
            <a:pPr marL="432000" indent="0">
              <a:lnSpc>
                <a:spcPct val="100000"/>
              </a:lnSpc>
              <a:spcBef>
                <a:spcPts val="1417"/>
              </a:spcBef>
              <a:buNone/>
              <a:tabLst>
                <a:tab pos="0" algn="l"/>
              </a:tabLst>
            </a:pPr>
            <a:endParaRPr lang="en-US" sz="3200" b="0" strike="noStrike" spc="-1">
              <a:solidFill>
                <a:srgbClr val="000000"/>
              </a:solidFill>
              <a:latin typeface="Arial"/>
            </a:endParaRPr>
          </a:p>
          <a:p>
            <a:pPr marL="432000" indent="0">
              <a:lnSpc>
                <a:spcPct val="100000"/>
              </a:lnSpc>
              <a:spcBef>
                <a:spcPts val="1417"/>
              </a:spcBef>
              <a:buNone/>
              <a:tabLst>
                <a:tab pos="0" algn="l"/>
              </a:tabLst>
            </a:pPr>
            <a:endParaRPr lang="en-US" sz="3200" b="0" strike="noStrike" spc="-1">
              <a:solidFill>
                <a:srgbClr val="000000"/>
              </a:solidFill>
              <a:latin typeface="Arial"/>
            </a:endParaRPr>
          </a:p>
          <a:p>
            <a:pPr marL="432000" indent="0">
              <a:lnSpc>
                <a:spcPct val="100000"/>
              </a:lnSpc>
              <a:spcBef>
                <a:spcPts val="1417"/>
              </a:spcBef>
              <a:buNone/>
              <a:tabLst>
                <a:tab pos="0" algn="l"/>
              </a:tabLst>
            </a:pPr>
            <a:endParaRPr lang="en-US" sz="3200" b="0" strike="noStrike" spc="-1">
              <a:solidFill>
                <a:srgbClr val="000000"/>
              </a:solidFill>
              <a:latin typeface="Arial"/>
            </a:endParaRPr>
          </a:p>
          <a:p>
            <a:pPr marL="432000" indent="0">
              <a:lnSpc>
                <a:spcPct val="100000"/>
              </a:lnSpc>
              <a:spcBef>
                <a:spcPts val="1191"/>
              </a:spcBef>
              <a:spcAft>
                <a:spcPts val="992"/>
              </a:spcAft>
              <a:buNone/>
              <a:tabLst>
                <a:tab pos="0" algn="l"/>
              </a:tabLst>
            </a:pPr>
            <a:r>
              <a:rPr lang="en-US" sz="4000" b="0" strike="noStrike" spc="-1">
                <a:solidFill>
                  <a:srgbClr val="000000"/>
                </a:solidFill>
                <a:latin typeface="Arial"/>
                <a:ea typeface="Noto Sans CJK SC"/>
              </a:rPr>
              <a:t>                                                                                                     </a:t>
            </a:r>
            <a:endParaRPr lang="en-US" sz="4000" b="0" strike="noStrike" spc="-1">
              <a:solidFill>
                <a:srgbClr val="000000"/>
              </a:solidFill>
              <a:latin typeface="Arial"/>
            </a:endParaRPr>
          </a:p>
          <a:p>
            <a:pPr marL="432000" indent="0">
              <a:lnSpc>
                <a:spcPct val="100000"/>
              </a:lnSpc>
              <a:spcBef>
                <a:spcPts val="1191"/>
              </a:spcBef>
              <a:spcAft>
                <a:spcPts val="992"/>
              </a:spcAft>
              <a:buNone/>
              <a:tabLst>
                <a:tab pos="0" algn="l"/>
              </a:tabLst>
            </a:pPr>
            <a:r>
              <a:rPr lang="en-US" sz="2400" b="0" strike="noStrike" spc="-1">
                <a:solidFill>
                  <a:srgbClr val="000000"/>
                </a:solidFill>
                <a:latin typeface="Arial"/>
                <a:ea typeface="Noto Sans CJK SC"/>
              </a:rPr>
              <a:t>29.09.2025                                                    Prof. B.Sc Taxhidin Kadiri​</a:t>
            </a:r>
            <a:endParaRPr lang="en-US" sz="2400" b="0" strike="noStrike" spc="-1">
              <a:solidFill>
                <a:srgbClr val="000000"/>
              </a:solidFill>
              <a:latin typeface="Arial"/>
            </a:endParaRPr>
          </a:p>
          <a:p>
            <a:pPr marL="432000" indent="0">
              <a:lnSpc>
                <a:spcPct val="100000"/>
              </a:lnSpc>
              <a:spcBef>
                <a:spcPts val="1417"/>
              </a:spcBef>
              <a:buNone/>
              <a:tabLst>
                <a:tab pos="0" algn="l"/>
              </a:tabLst>
            </a:pPr>
            <a:endParaRPr lang="en-US" sz="1000" b="0" strike="noStrike" spc="-1">
              <a:solidFill>
                <a:srgbClr val="000000"/>
              </a:solidFill>
              <a:latin typeface="Arial"/>
            </a:endParaRPr>
          </a:p>
          <a:p>
            <a:pPr marL="432000" indent="0">
              <a:lnSpc>
                <a:spcPct val="100000"/>
              </a:lnSpc>
              <a:spcBef>
                <a:spcPts val="1417"/>
              </a:spcBef>
              <a:buNone/>
              <a:tabLst>
                <a:tab pos="0" algn="l"/>
              </a:tabLst>
            </a:pPr>
            <a:endParaRPr lang="en-US" sz="3200" b="0" strike="noStrike" spc="-1">
              <a:solidFill>
                <a:srgbClr val="000000"/>
              </a:solidFill>
              <a:latin typeface="Arial"/>
            </a:endParaRPr>
          </a:p>
          <a:p>
            <a:pPr marL="432000" indent="0">
              <a:lnSpc>
                <a:spcPct val="100000"/>
              </a:lnSpc>
              <a:spcBef>
                <a:spcPts val="1417"/>
              </a:spcBef>
              <a:buNone/>
              <a:tabLst>
                <a:tab pos="0" algn="l"/>
              </a:tabLst>
            </a:pPr>
            <a:endParaRPr lang="en-US" sz="3200" b="0" strike="noStrike" spc="-1">
              <a:solidFill>
                <a:srgbClr val="000000"/>
              </a:solidFill>
              <a:latin typeface="Arial"/>
            </a:endParaRPr>
          </a:p>
        </p:txBody>
      </p:sp>
      <p:pic>
        <p:nvPicPr>
          <p:cNvPr id="14" name="Picture 13"/>
          <p:cNvPicPr/>
          <p:nvPr/>
        </p:nvPicPr>
        <p:blipFill>
          <a:blip r:embed="rId2"/>
          <a:stretch/>
        </p:blipFill>
        <p:spPr>
          <a:xfrm>
            <a:off x="3315240" y="1629000"/>
            <a:ext cx="3313800" cy="24854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191"/>
              </a:spcBef>
              <a:spcAft>
                <a:spcPts val="992"/>
              </a:spcAft>
              <a:buNone/>
              <a:tabLst>
                <a:tab pos="0" algn="l"/>
              </a:tabLst>
            </a:pPr>
            <a:r>
              <a:rPr lang="en-US" sz="2600" b="1" strike="noStrike" spc="-1">
                <a:solidFill>
                  <a:srgbClr val="000000"/>
                </a:solidFill>
                <a:latin typeface="Arial"/>
              </a:rPr>
              <a:t>1. Sistemi Operativ dhe Ndarja e tij</a:t>
            </a:r>
            <a:endParaRPr lang="en-US" sz="2600" b="0" strike="noStrike" spc="-1">
              <a:solidFill>
                <a:srgbClr val="000000"/>
              </a:solidFill>
              <a:latin typeface="Arial"/>
            </a:endParaRPr>
          </a:p>
        </p:txBody>
      </p:sp>
      <p:sp>
        <p:nvSpPr>
          <p:cNvPr id="16" name="PlaceHolder 2"/>
          <p:cNvSpPr>
            <a:spLocks noGrp="1"/>
          </p:cNvSpPr>
          <p:nvPr>
            <p:ph/>
          </p:nvPr>
        </p:nvSpPr>
        <p:spPr>
          <a:xfrm>
            <a:off x="504000" y="914400"/>
            <a:ext cx="9071280" cy="4571640"/>
          </a:xfrm>
          <a:prstGeom prst="rect">
            <a:avLst/>
          </a:prstGeom>
          <a:noFill/>
          <a:ln w="0">
            <a:noFill/>
          </a:ln>
        </p:spPr>
        <p:txBody>
          <a:bodyPr lIns="0" tIns="0" rIns="0" bIns="0" anchor="t">
            <a:normAutofit fontScale="87222" lnSpcReduction="10000"/>
          </a:bodyPr>
          <a:lstStyle/>
          <a:p>
            <a:pPr marL="432000" indent="0" algn="ctr">
              <a:lnSpc>
                <a:spcPct val="100000"/>
              </a:lnSpc>
              <a:spcBef>
                <a:spcPts val="1191"/>
              </a:spcBef>
              <a:spcAft>
                <a:spcPts val="992"/>
              </a:spcAft>
              <a:buNone/>
              <a:tabLst>
                <a:tab pos="0" algn="l"/>
              </a:tabLst>
            </a:pPr>
            <a:r>
              <a:rPr lang="en-US" sz="2400" b="1" strike="noStrike" spc="-1">
                <a:solidFill>
                  <a:srgbClr val="000000"/>
                </a:solidFill>
                <a:latin typeface="Arial"/>
              </a:rPr>
              <a:t> </a:t>
            </a:r>
            <a:endParaRPr lang="en-US" sz="2400" b="0" strike="noStrike" spc="-1">
              <a:solidFill>
                <a:srgbClr val="000000"/>
              </a:solidFill>
              <a:latin typeface="Arial"/>
            </a:endParaRPr>
          </a:p>
          <a:p>
            <a:pPr marL="432000" indent="0">
              <a:lnSpc>
                <a:spcPct val="100000"/>
              </a:lnSpc>
              <a:spcBef>
                <a:spcPts val="1191"/>
              </a:spcBef>
              <a:spcAft>
                <a:spcPts val="992"/>
              </a:spcAft>
              <a:buNone/>
              <a:tabLst>
                <a:tab pos="0" algn="l"/>
              </a:tabLst>
            </a:pPr>
            <a:r>
              <a:rPr lang="en-US" sz="2400" b="1" strike="noStrike" spc="-1">
                <a:solidFill>
                  <a:srgbClr val="000000"/>
                </a:solidFill>
                <a:latin typeface="Arial"/>
              </a:rPr>
              <a:t>Sistemi operativ (SO)</a:t>
            </a:r>
            <a:r>
              <a:rPr lang="en-US" sz="2400" b="0" strike="noStrike" spc="-1">
                <a:solidFill>
                  <a:srgbClr val="000000"/>
                </a:solidFill>
                <a:latin typeface="Arial"/>
              </a:rPr>
              <a:t> është softueri qendror që kontrollon dhe menaxhon burimet themelore të kompjuterit (CPU, memorie, pajisje hyrëse-dalëse). Ai ofron një ndërfaqe ndërmjet harduerit dhe programeve të tjera, duke u mundësuar atyre akses eficient në këto burime. SO ekzekuton ciklet hyrëse–përpunim–dalje për të procesuar të dhënat, dhe kujdeset për funksionet bazë si caktimi i memories dhe planifikimi i proceseve.</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2400" b="1" strike="noStrike" spc="-1">
                <a:solidFill>
                  <a:srgbClr val="000000"/>
                </a:solidFill>
                <a:latin typeface="Arial"/>
              </a:rPr>
              <a:t>Funksionet kryesore të SO-së:</a:t>
            </a:r>
            <a:r>
              <a:rPr lang="en-US" sz="2400" b="0" strike="noStrike" spc="-1">
                <a:solidFill>
                  <a:srgbClr val="000000"/>
                </a:solidFill>
                <a:latin typeface="Arial"/>
              </a:rPr>
              <a:t> menaxhimi i memories (ndarja dhe rindarja e saj midis programeve), caktimi i CPU-së te proceset aktive (planifikimi i proceseve dhe ndarja e CPU-së), kontrolli i pajisjeve hyrëse/dalëse (komunikimi me harduerin hyrje-dalës), menaxhimi i sistemit të skedarëve (krijimi, leximi dhe fshirja e fajllave) dhe ofrimi i shërbimeve rrjetës (komunikim ndërmjet kompjuterëve).</a:t>
            </a: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laceHolder 1"/>
          <p:cNvSpPr>
            <a:spLocks noGrp="1"/>
          </p:cNvSpPr>
          <p:nvPr>
            <p:ph/>
          </p:nvPr>
        </p:nvSpPr>
        <p:spPr>
          <a:xfrm>
            <a:off x="504000" y="228600"/>
            <a:ext cx="9071280" cy="5257440"/>
          </a:xfrm>
          <a:prstGeom prst="rect">
            <a:avLst/>
          </a:prstGeom>
          <a:noFill/>
          <a:ln w="0">
            <a:noFill/>
          </a:ln>
        </p:spPr>
        <p:txBody>
          <a:bodyPr lIns="0" tIns="0" rIns="0" bIns="0" anchor="t">
            <a:normAutofit fontScale="96666" lnSpcReduction="10000"/>
          </a:bodyPr>
          <a:lstStyle/>
          <a:p>
            <a:pPr marL="432000" indent="-324000">
              <a:lnSpc>
                <a:spcPct val="100000"/>
              </a:lnSpc>
              <a:spcBef>
                <a:spcPts val="1191"/>
              </a:spcBef>
              <a:spcAft>
                <a:spcPts val="992"/>
              </a:spcAft>
              <a:buClr>
                <a:srgbClr val="000000"/>
              </a:buClr>
              <a:buSzPct val="45000"/>
              <a:buFont typeface="Wingdings" charset="2"/>
              <a:buChar char=""/>
            </a:pPr>
            <a:r>
              <a:rPr lang="en-US" sz="2800" b="1" strike="noStrike" spc="-1">
                <a:solidFill>
                  <a:srgbClr val="000000"/>
                </a:solidFill>
                <a:latin typeface="Arial"/>
              </a:rPr>
              <a:t>Komponentët e SO-së:</a:t>
            </a:r>
            <a:r>
              <a:rPr lang="en-US" sz="2800" b="0" strike="noStrike" spc="-1">
                <a:solidFill>
                  <a:srgbClr val="000000"/>
                </a:solidFill>
                <a:latin typeface="Arial"/>
              </a:rPr>
              <a:t> në qendër është kernel-i, që komunikon direkt me harduerin dhe menaxhon burimet. Përveç kernel-it, shell-i (interpretor komandash) siguron ndërfaqen me përdoruesin ose aplikacionet (p.sh. linja e komandave apo ndërfaqja grafike). Ekzistojnë edhe shtresa ndihmëse softuerike (sistemi i skedarëve, biblioteka sistemore) që mbështesin funksionimin e OS-së.</a:t>
            </a:r>
          </a:p>
          <a:p>
            <a:pPr marL="432000" indent="-324000">
              <a:lnSpc>
                <a:spcPct val="100000"/>
              </a:lnSpc>
              <a:spcBef>
                <a:spcPts val="1191"/>
              </a:spcBef>
              <a:spcAft>
                <a:spcPts val="992"/>
              </a:spcAft>
              <a:buClr>
                <a:srgbClr val="000000"/>
              </a:buClr>
              <a:buSzPct val="45000"/>
              <a:buFont typeface="Wingdings" charset="2"/>
              <a:buChar char=""/>
            </a:pPr>
            <a:r>
              <a:rPr lang="en-US" sz="2800" b="1" strike="noStrike" spc="-1">
                <a:solidFill>
                  <a:srgbClr val="000000"/>
                </a:solidFill>
                <a:latin typeface="Arial"/>
              </a:rPr>
              <a:t>Llojet e sistemeve operative:</a:t>
            </a:r>
            <a:r>
              <a:rPr lang="en-US" sz="2800" b="0" strike="noStrike" spc="-1">
                <a:solidFill>
                  <a:srgbClr val="000000"/>
                </a:solidFill>
                <a:latin typeface="Arial"/>
              </a:rPr>
              <a:t> SO-të mund të jenë të hapura (open source), ku kodi burimor është i disponueshëm (p.sh. Linux, BSD) ose të mbyllura (komerciale), pronë e kompanive me kod të mbyllur (p.sh. Windows, macOS).</a:t>
            </a: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laceHolder 1"/>
          <p:cNvSpPr>
            <a:spLocks noGrp="1"/>
          </p:cNvSpPr>
          <p:nvPr>
            <p:ph/>
          </p:nvPr>
        </p:nvSpPr>
        <p:spPr>
          <a:xfrm>
            <a:off x="504000" y="457200"/>
            <a:ext cx="9071280" cy="4800240"/>
          </a:xfrm>
          <a:prstGeom prst="rect">
            <a:avLst/>
          </a:prstGeom>
          <a:noFill/>
          <a:ln w="0">
            <a:noFill/>
          </a:ln>
        </p:spPr>
        <p:txBody>
          <a:bodyPr lIns="0" tIns="0" rIns="0" bIns="0" anchor="t">
            <a:normAutofit fontScale="87222"/>
          </a:bodyPr>
          <a:lstStyle/>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Përdorim personal:</a:t>
            </a:r>
            <a:r>
              <a:rPr lang="en-US" sz="2600" b="0" strike="noStrike" spc="-1">
                <a:solidFill>
                  <a:srgbClr val="000000"/>
                </a:solidFill>
                <a:latin typeface="Arial"/>
              </a:rPr>
              <a:t> SO për kompjuterë personalë (desktop/laptop) – p.sh. Windows 10/11, macOS, Linux (Ubuntu, Fedora) – janë optimizuar për ndërfaqe përdoruesi të pasura dhe aplikacione të shumëllojshme.</a:t>
            </a:r>
          </a:p>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Përdorim server/rrjet: </a:t>
            </a:r>
            <a:r>
              <a:rPr lang="en-US" sz="2600" b="0" strike="noStrike" spc="-1">
                <a:solidFill>
                  <a:srgbClr val="000000"/>
                </a:solidFill>
                <a:latin typeface="Arial"/>
              </a:rPr>
              <a:t>SO për serverë – p.sh. Windows Server, Linux Server – ofrojnë burime të përbashkëta në rrjet (shpërndarje skedarësh, databaza, web shërbime) dhe mundësojnë shërbim për shumë përdorues njëkohësisht.</a:t>
            </a:r>
          </a:p>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Mainframe/Superkompjuterë:</a:t>
            </a:r>
            <a:r>
              <a:rPr lang="en-US" sz="2600" b="0" strike="noStrike" spc="-1">
                <a:solidFill>
                  <a:srgbClr val="000000"/>
                </a:solidFill>
                <a:latin typeface="Arial"/>
              </a:rPr>
              <a:t> Në mjedise të mëdha (institucione financiare, kërkime shkencore) përdoren OS të fuqishëm për llogaritje intensive dhe menaxhim të të dhënave masive (p.sh. IBM z/OS).</a:t>
            </a: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laceHolder 1"/>
          <p:cNvSpPr>
            <a:spLocks noGrp="1"/>
          </p:cNvSpPr>
          <p:nvPr>
            <p:ph/>
          </p:nvPr>
        </p:nvSpPr>
        <p:spPr>
          <a:xfrm>
            <a:off x="504000" y="228600"/>
            <a:ext cx="9071280" cy="5028840"/>
          </a:xfrm>
          <a:prstGeom prst="rect">
            <a:avLst/>
          </a:prstGeom>
          <a:noFill/>
          <a:ln w="0">
            <a:noFill/>
          </a:ln>
        </p:spPr>
        <p:txBody>
          <a:bodyPr lIns="0" tIns="0" rIns="0" bIns="0" anchor="t">
            <a:normAutofit fontScale="68333"/>
          </a:bodyPr>
          <a:lstStyle/>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Real-Time (në kohë reale): </a:t>
            </a:r>
            <a:r>
              <a:rPr lang="en-US" sz="2600" b="0" strike="noStrike" spc="-1">
                <a:solidFill>
                  <a:srgbClr val="000000"/>
                </a:solidFill>
                <a:latin typeface="Arial"/>
              </a:rPr>
              <a:t>Sistemet operative që reagojnë menjëherë brenda një kohe të caktuar (p.sh. VxWorks në aviacion, QNX në automjete), ku vonesa e sistemit duhet të jetë minimale.</a:t>
            </a:r>
          </a:p>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Të ngulitura/mobile: </a:t>
            </a:r>
            <a:r>
              <a:rPr lang="en-US" sz="2600" b="0" strike="noStrike" spc="-1">
                <a:solidFill>
                  <a:srgbClr val="000000"/>
                </a:solidFill>
                <a:latin typeface="Arial"/>
              </a:rPr>
              <a:t>OS në pajisje elektronike dhe mobile (p.sh. Android në smartfonë/tableta, firmware në televizione dhe automjete industriale). Këto sisteme shpesh kanë kërkesa specifike (kufizime burimesh, funksione të dedikuara).</a:t>
            </a:r>
          </a:p>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Shembuj praktikë:</a:t>
            </a:r>
            <a:r>
              <a:rPr lang="en-US" sz="2600" b="0" strike="noStrike" spc="-1">
                <a:solidFill>
                  <a:srgbClr val="000000"/>
                </a:solidFill>
                <a:latin typeface="Arial"/>
              </a:rPr>
              <a:t> Sistemet operativ më të zakonshme sot janë Windows (Microsoft), Linux (p.sh. Ubuntu, Fedora) dhe macOS (Apple). Kur hapni një aplikacion, OS vendos programin në memorie dhe koordinon punën e tij në CPU dhe pajisjet I/O (p.sh. lexon/skanon skedarët e nevojshëm, shfaq dritën ose tingullin e duhur në pajisje).</a:t>
            </a:r>
          </a:p>
          <a:p>
            <a:pPr marL="432000" indent="-324000">
              <a:lnSpc>
                <a:spcPct val="100000"/>
              </a:lnSpc>
              <a:spcBef>
                <a:spcPts val="1191"/>
              </a:spcBef>
              <a:spcAft>
                <a:spcPts val="992"/>
              </a:spcAft>
              <a:buClr>
                <a:srgbClr val="000000"/>
              </a:buClr>
              <a:buSzPct val="45000"/>
              <a:buFont typeface="Wingdings" charset="2"/>
              <a:buChar char=""/>
            </a:pPr>
            <a:r>
              <a:rPr lang="en-US" sz="2600" b="1" strike="noStrike" spc="-1">
                <a:solidFill>
                  <a:srgbClr val="000000"/>
                </a:solidFill>
                <a:latin typeface="Arial"/>
              </a:rPr>
              <a:t>Ushtrim:</a:t>
            </a:r>
            <a:r>
              <a:rPr lang="en-US" sz="2600" b="0" strike="noStrike" spc="-1">
                <a:solidFill>
                  <a:srgbClr val="000000"/>
                </a:solidFill>
                <a:latin typeface="Arial"/>
              </a:rPr>
              <a:t> Verifikoni në sistemin tuaj emrin dhe versionin e OS-së: në Windows shikoni “Rreth” (About) në Settings; në Linux përdorni komandën uname -a ose lsb_release -a. Më pas, hapni një mjet si Task Manager (Windows) ose htop (Linux) dhe vëzhgoni listën e proceseve dhe përdorimin e CPU/RAM-it nga sistemi operativ.</a:t>
            </a: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laceHolder 1"/>
          <p:cNvSpPr>
            <a:spLocks noGrp="1"/>
          </p:cNvSpPr>
          <p:nvPr>
            <p:ph/>
          </p:nvPr>
        </p:nvSpPr>
        <p:spPr>
          <a:xfrm>
            <a:off x="504000" y="1326600"/>
            <a:ext cx="9071280" cy="3287880"/>
          </a:xfrm>
          <a:prstGeom prst="rect">
            <a:avLst/>
          </a:prstGeom>
          <a:noFill/>
          <a:ln w="0">
            <a:noFill/>
          </a:ln>
        </p:spPr>
        <p:txBody>
          <a:bodyPr lIns="0" tIns="0" rIns="0" bIns="0" anchor="t">
            <a:normAutofit fontScale="75000" lnSpcReduction="10000"/>
          </a:bodyPr>
          <a:lstStyle/>
          <a:p>
            <a:pPr marL="432000" indent="0">
              <a:lnSpc>
                <a:spcPct val="100000"/>
              </a:lnSpc>
              <a:spcBef>
                <a:spcPts val="1191"/>
              </a:spcBef>
              <a:spcAft>
                <a:spcPts val="992"/>
              </a:spcAft>
              <a:buNone/>
              <a:tabLst>
                <a:tab pos="0" algn="l"/>
              </a:tabLst>
            </a:pPr>
            <a:r>
              <a:rPr lang="en-US" sz="2600" b="1" strike="noStrike" spc="-1">
                <a:solidFill>
                  <a:srgbClr val="000000"/>
                </a:solidFill>
                <a:latin typeface="Arial"/>
              </a:rPr>
              <a:t>Ndërfaqja e përdoruesit</a:t>
            </a:r>
            <a:r>
              <a:rPr lang="en-US" sz="2600" b="0" strike="noStrike" spc="-1">
                <a:solidFill>
                  <a:srgbClr val="000000"/>
                </a:solidFill>
                <a:latin typeface="Arial"/>
              </a:rPr>
              <a:t> është komponenti që mundëson ndërveprimin midis njeriut dhe sistemit kompjuterik. Ajo përfshin mënyra të ndryshme hyrëse (tastierë, maus, ekran prekës) dhe mënyra dalëse (ekran, grafik, terminal teksti). Një ndërfaqe e qartë ndihmon përdoruesin të kryejë detyra shpejt dhe korrekt. Për këtë, sistemi operativ përdor shell-in (interpreton komandat në terminal) dhe mjedise grafike (desktop) për ta lehtësuar përdorimin.</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2600" b="1" strike="noStrike" spc="-1">
                <a:solidFill>
                  <a:srgbClr val="000000"/>
                </a:solidFill>
                <a:latin typeface="Arial"/>
              </a:rPr>
              <a:t>Elementet e ndërfaqes: </a:t>
            </a:r>
            <a:r>
              <a:rPr lang="en-US" sz="2600" b="0" strike="noStrike" spc="-1">
                <a:solidFill>
                  <a:srgbClr val="000000"/>
                </a:solidFill>
                <a:latin typeface="Arial"/>
              </a:rPr>
              <a:t>Përfshihen ikonat, dritaret (windows), meny-t dhe butonat në mjediset grafike. Në linjën e komandave (CLI) elementet e ndërfaqes janë prompt-i i tekstit dhe komandat që shkruhen.</a:t>
            </a:r>
          </a:p>
        </p:txBody>
      </p:sp>
      <p:sp>
        <p:nvSpPr>
          <p:cNvPr id="21" name="PlaceHolder 2"/>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191"/>
              </a:spcBef>
              <a:spcAft>
                <a:spcPts val="992"/>
              </a:spcAft>
              <a:buNone/>
              <a:tabLst>
                <a:tab pos="0" algn="l"/>
              </a:tabLst>
            </a:pPr>
            <a:r>
              <a:rPr lang="en-US" sz="4000" b="0" strike="noStrike" spc="-1">
                <a:solidFill>
                  <a:srgbClr val="000000"/>
                </a:solidFill>
                <a:latin typeface="Arial"/>
              </a:rPr>
              <a:t>2. Ndërfaqja e Përdoruesit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PlaceHolder 1"/>
          <p:cNvSpPr>
            <a:spLocks noGrp="1"/>
          </p:cNvSpPr>
          <p:nvPr>
            <p:ph/>
          </p:nvPr>
        </p:nvSpPr>
        <p:spPr>
          <a:xfrm>
            <a:off x="504000" y="457200"/>
            <a:ext cx="9071280" cy="4800240"/>
          </a:xfrm>
          <a:prstGeom prst="rect">
            <a:avLst/>
          </a:prstGeom>
          <a:noFill/>
          <a:ln w="0">
            <a:noFill/>
          </a:ln>
        </p:spPr>
        <p:txBody>
          <a:bodyPr lIns="0" tIns="0" rIns="0" bIns="0" anchor="t">
            <a:normAutofit fontScale="58888"/>
          </a:bodyPr>
          <a:lstStyle/>
          <a:p>
            <a:pPr marL="432000" indent="0">
              <a:lnSpc>
                <a:spcPct val="100000"/>
              </a:lnSpc>
              <a:spcBef>
                <a:spcPts val="1191"/>
              </a:spcBef>
              <a:spcAft>
                <a:spcPts val="992"/>
              </a:spcAft>
              <a:buNone/>
              <a:tabLst>
                <a:tab pos="0" algn="l"/>
              </a:tabLst>
            </a:pPr>
            <a:r>
              <a:rPr lang="en-US" sz="1000" b="0" strike="noStrike" spc="-1">
                <a:solidFill>
                  <a:srgbClr val="000000"/>
                </a:solidFill>
                <a:latin typeface="Arial"/>
              </a:rPr>
              <a:t>   </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3200" b="1" strike="noStrike" spc="-1">
                <a:solidFill>
                  <a:srgbClr val="000000"/>
                </a:solidFill>
                <a:latin typeface="Arial"/>
              </a:rPr>
              <a:t>Roli i shell-it:</a:t>
            </a:r>
            <a:r>
              <a:rPr lang="en-US" sz="3200" b="0" strike="noStrike" spc="-1">
                <a:solidFill>
                  <a:srgbClr val="000000"/>
                </a:solidFill>
                <a:latin typeface="Arial"/>
              </a:rPr>
              <a:t> Shell-i (p.sh. Command Prompt në Windows apo Terminal në Linux) pranon komandat nga përdoruesi dhe i interpreton në nivel sistemi. Për shembull, komanda ls në Linux ose dir në Windows tregon përmbajtjen e një dosjeje.</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3200" b="1" strike="noStrike" spc="-1">
                <a:solidFill>
                  <a:srgbClr val="000000"/>
                </a:solidFill>
                <a:latin typeface="Arial"/>
              </a:rPr>
              <a:t>Ndërfaqet grafike:</a:t>
            </a:r>
            <a:r>
              <a:rPr lang="en-US" sz="3200" b="0" strike="noStrike" spc="-1">
                <a:solidFill>
                  <a:srgbClr val="000000"/>
                </a:solidFill>
                <a:latin typeface="Arial"/>
              </a:rPr>
              <a:t> Desktop-et grafike përdorin tastierën dhe maus-in për të naviguar(drejtuar). Për shembull, në Windows përdoruesi klikon ikonat për të hapur programe, ndërsa në Linux klikohet në menynë e aplikacioneve ose ikona e programit. GUI-ja është më lehtë për përdoruesit e zakonshëm dhe nuk kërkon njohuri specifike komandeve.</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3200" b="1" strike="noStrike" spc="-1">
                <a:solidFill>
                  <a:srgbClr val="000000"/>
                </a:solidFill>
                <a:latin typeface="Arial"/>
              </a:rPr>
              <a:t>Ushtrim:</a:t>
            </a:r>
            <a:r>
              <a:rPr lang="en-US" sz="3200" b="0" strike="noStrike" spc="-1">
                <a:solidFill>
                  <a:srgbClr val="000000"/>
                </a:solidFill>
                <a:latin typeface="Arial"/>
              </a:rPr>
              <a:t> Hyni në ndërfaqen komandash (p.sh. Terminal në Linux ose Command Prompt në Windows) dhe shkruani mkdir Prova për të krijuar një dosje të re. Më pas, hapni menaxherin e skedarëve në mjedisin grafik dhe verifikoni se ekziston dosja "Prova" në direktoriumin aktual.</a:t>
            </a:r>
          </a:p>
          <a:p>
            <a:pPr marL="432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PlaceHolder 1"/>
          <p:cNvSpPr>
            <a:spLocks noGrp="1"/>
          </p:cNvSpPr>
          <p:nvPr>
            <p:ph/>
          </p:nvPr>
        </p:nvSpPr>
        <p:spPr>
          <a:xfrm>
            <a:off x="504000" y="1326600"/>
            <a:ext cx="9071280" cy="4159440"/>
          </a:xfrm>
          <a:prstGeom prst="rect">
            <a:avLst/>
          </a:prstGeom>
          <a:noFill/>
          <a:ln w="0">
            <a:noFill/>
          </a:ln>
        </p:spPr>
        <p:txBody>
          <a:bodyPr lIns="0" tIns="0" rIns="0" bIns="0" anchor="t">
            <a:normAutofit fontScale="98333" lnSpcReduction="10000"/>
          </a:bodyPr>
          <a:lstStyle/>
          <a:p>
            <a:pPr marL="432000" indent="-324000">
              <a:lnSpc>
                <a:spcPct val="100000"/>
              </a:lnSpc>
              <a:spcBef>
                <a:spcPts val="1417"/>
              </a:spcBef>
              <a:buClr>
                <a:srgbClr val="000000"/>
              </a:buClr>
              <a:buSzPct val="45000"/>
              <a:buFont typeface="Wingdings" charset="2"/>
              <a:buChar char=""/>
            </a:pPr>
            <a:r>
              <a:rPr lang="en-US" sz="2400" b="0" strike="noStrike" spc="-1">
                <a:solidFill>
                  <a:srgbClr val="000000"/>
                </a:solidFill>
                <a:latin typeface="Arial"/>
              </a:rPr>
              <a:t>Arkitektura e kompjuterit studion komponentët bazë dhe mënyrën si ata bashkëveprojnë. Sipas modelit Von Neumann, </a:t>
            </a:r>
            <a:r>
              <a:rPr lang="en-US" sz="2400" b="1" strike="noStrike" spc="-1">
                <a:solidFill>
                  <a:srgbClr val="000000"/>
                </a:solidFill>
                <a:latin typeface="Arial"/>
              </a:rPr>
              <a:t>CPU</a:t>
            </a:r>
            <a:r>
              <a:rPr lang="en-US" sz="2400" b="0" strike="noStrike" spc="-1">
                <a:solidFill>
                  <a:srgbClr val="000000"/>
                </a:solidFill>
                <a:latin typeface="Arial"/>
              </a:rPr>
              <a:t> (njësia qendrore e përpunimit) merr instruksionet dhe të dhënat nga memoria dhe i përpunon ato. CPU-ja përbëhet nga ALU (njësia aritmetike-logjike) dhe njësia e kontrollit. Memoria kryesore (RAM) ruan programet dhe të dhënat gjatë ekzekutimit (përkohshme), ndërsa </a:t>
            </a:r>
            <a:r>
              <a:rPr lang="en-US" sz="2400" b="1" strike="noStrike" spc="-1">
                <a:solidFill>
                  <a:srgbClr val="000000"/>
                </a:solidFill>
                <a:latin typeface="Arial"/>
              </a:rPr>
              <a:t>memoria e përhershme</a:t>
            </a:r>
            <a:r>
              <a:rPr lang="en-US" sz="2400" b="0" strike="noStrike" spc="-1">
                <a:solidFill>
                  <a:srgbClr val="000000"/>
                </a:solidFill>
                <a:latin typeface="Arial"/>
              </a:rPr>
              <a:t> (HDD/SSD) ruan të dhëna në mënyrë permanente edhe kur kompjuteri fiket. Të gjithë këta komponentë (CPU, memoria, pajisjet I/O) lidhen me njëri-tjetrin në motherboard përmes </a:t>
            </a:r>
            <a:r>
              <a:rPr lang="en-US" sz="2400" b="1" strike="noStrike" spc="-1">
                <a:solidFill>
                  <a:srgbClr val="000000"/>
                </a:solidFill>
                <a:latin typeface="Arial"/>
              </a:rPr>
              <a:t>bus</a:t>
            </a:r>
            <a:r>
              <a:rPr lang="en-US" sz="2400" b="0" strike="noStrike" spc="-1">
                <a:solidFill>
                  <a:srgbClr val="000000"/>
                </a:solidFill>
                <a:latin typeface="Arial"/>
              </a:rPr>
              <a:t>-eve (kanalet lidhëse të të dhënave) që mundësojnë transmetimin e informacionit.</a:t>
            </a:r>
          </a:p>
          <a:p>
            <a:pPr marL="432000" indent="0">
              <a:lnSpc>
                <a:spcPct val="100000"/>
              </a:lnSpc>
              <a:spcBef>
                <a:spcPts val="1417"/>
              </a:spcBef>
              <a:buNone/>
              <a:tabLst>
                <a:tab pos="0" algn="l"/>
              </a:tabLst>
            </a:pPr>
            <a:endParaRPr lang="en-US" sz="2100" b="0" strike="noStrike" spc="-1">
              <a:solidFill>
                <a:srgbClr val="000000"/>
              </a:solidFill>
              <a:latin typeface="Arial"/>
            </a:endParaRPr>
          </a:p>
          <a:p>
            <a:pPr marL="450360" indent="-179640">
              <a:lnSpc>
                <a:spcPct val="115000"/>
              </a:lnSpc>
              <a:spcAft>
                <a:spcPts val="1236"/>
              </a:spcAft>
              <a:buNone/>
              <a:tabLst>
                <a:tab pos="0" algn="l"/>
              </a:tabLst>
            </a:pPr>
            <a:endParaRPr lang="en-US" sz="2100" b="0" strike="noStrike" spc="-1">
              <a:solidFill>
                <a:srgbClr val="000000"/>
              </a:solidFill>
              <a:latin typeface="Arial"/>
            </a:endParaRPr>
          </a:p>
        </p:txBody>
      </p:sp>
      <p:sp>
        <p:nvSpPr>
          <p:cNvPr id="24" name="PlaceHolder 2"/>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marL="432000" indent="0" algn="ctr">
              <a:lnSpc>
                <a:spcPct val="100000"/>
              </a:lnSpc>
              <a:buNone/>
              <a:tabLst>
                <a:tab pos="0" algn="l"/>
              </a:tabLst>
            </a:pPr>
            <a:r>
              <a:rPr lang="sq-AL" sz="4000" b="1" strike="noStrike" spc="-1" dirty="0">
                <a:solidFill>
                  <a:srgbClr val="000000"/>
                </a:solidFill>
                <a:latin typeface="Liberation Serif;Times New Roman"/>
                <a:ea typeface="Noto Serif CJK SC"/>
              </a:rPr>
              <a:t>3. </a:t>
            </a:r>
            <a:r>
              <a:rPr lang="en-US" sz="4000" b="1" strike="noStrike" spc="-1" dirty="0" err="1">
                <a:solidFill>
                  <a:srgbClr val="000000"/>
                </a:solidFill>
                <a:latin typeface="Liberation Serif;Times New Roman"/>
                <a:ea typeface="Noto Serif CJK SC"/>
              </a:rPr>
              <a:t>Arkitektura</a:t>
            </a:r>
            <a:r>
              <a:rPr lang="en-US" sz="4000" b="1" strike="noStrike" spc="-1" dirty="0">
                <a:solidFill>
                  <a:srgbClr val="000000"/>
                </a:solidFill>
                <a:latin typeface="Liberation Serif;Times New Roman"/>
                <a:ea typeface="Noto Serif CJK SC"/>
              </a:rPr>
              <a:t> e </a:t>
            </a:r>
            <a:r>
              <a:rPr lang="en-US" sz="4000" b="1" strike="noStrike" spc="-1" dirty="0" err="1">
                <a:solidFill>
                  <a:srgbClr val="000000"/>
                </a:solidFill>
                <a:latin typeface="Liberation Serif;Times New Roman"/>
                <a:ea typeface="Noto Serif CJK SC"/>
              </a:rPr>
              <a:t>Kompjuterit</a:t>
            </a:r>
            <a:r>
              <a:rPr lang="en-US" sz="4000" b="1" strike="noStrike" spc="-1" dirty="0">
                <a:solidFill>
                  <a:srgbClr val="000000"/>
                </a:solidFill>
                <a:latin typeface="Liberation Serif;Times New Roman"/>
                <a:ea typeface="Noto Serif CJK SC"/>
              </a:rPr>
              <a:t> </a:t>
            </a:r>
            <a:r>
              <a:rPr lang="en-US" sz="4000" b="1" strike="noStrike" spc="-1" dirty="0" err="1">
                <a:solidFill>
                  <a:srgbClr val="000000"/>
                </a:solidFill>
                <a:latin typeface="Liberation Serif;Times New Roman"/>
                <a:ea typeface="Noto Serif CJK SC"/>
              </a:rPr>
              <a:t>dhe</a:t>
            </a:r>
            <a:r>
              <a:rPr lang="en-US" sz="4000" b="1" strike="noStrike" spc="-1" dirty="0">
                <a:solidFill>
                  <a:srgbClr val="000000"/>
                </a:solidFill>
                <a:latin typeface="Liberation Serif;Times New Roman"/>
                <a:ea typeface="Noto Serif CJK SC"/>
              </a:rPr>
              <a:t> BIOS-</a:t>
            </a:r>
            <a:r>
              <a:rPr lang="en-US" sz="4000" b="1" strike="noStrike" spc="-1" dirty="0" err="1">
                <a:solidFill>
                  <a:srgbClr val="000000"/>
                </a:solidFill>
                <a:latin typeface="Liberation Serif;Times New Roman"/>
                <a:ea typeface="Noto Serif CJK SC"/>
              </a:rPr>
              <a:t>i</a:t>
            </a:r>
            <a:endParaRPr lang="en-US" sz="40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PlaceHolder 1"/>
          <p:cNvSpPr>
            <a:spLocks noGrp="1"/>
          </p:cNvSpPr>
          <p:nvPr>
            <p:ph/>
          </p:nvPr>
        </p:nvSpPr>
        <p:spPr>
          <a:xfrm>
            <a:off x="504000" y="457200"/>
            <a:ext cx="9071280" cy="48002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US" sz="2600" b="0" strike="noStrike" spc="-1">
                <a:solidFill>
                  <a:srgbClr val="000000"/>
                </a:solidFill>
                <a:latin typeface="Arial"/>
              </a:rPr>
              <a:t>   </a:t>
            </a:r>
            <a:r>
              <a:rPr lang="en-US" sz="2600" b="1" strike="noStrike" spc="-1">
                <a:solidFill>
                  <a:srgbClr val="000000"/>
                </a:solidFill>
                <a:latin typeface="Arial"/>
              </a:rPr>
              <a:t>Komponentët kryesorë:</a:t>
            </a:r>
            <a:r>
              <a:rPr lang="en-US" sz="2600" b="0" strike="noStrike" spc="-1">
                <a:solidFill>
                  <a:srgbClr val="000000"/>
                </a:solidFill>
                <a:latin typeface="Arial"/>
              </a:rPr>
              <a:t> Njësia Qendrore e Përpunimit (CPU) përpunon instruksionet; Memoria Kryesore (RAM) ruan të dhënat gjatë ekzekutimit; Memorie e Përhershme (HDD/SSD) ruan informacione në mënyrë permanente; pajisjet hyrëse-dalëse (tastierë, maus, monitor, printer etj.) marrin/dërgojnë të dhëna në sistem. Të gjithë këta komunikojnë me njëri-tjetrin përmes </a:t>
            </a:r>
            <a:r>
              <a:rPr lang="en-US" sz="2600" b="1" strike="noStrike" spc="-1">
                <a:solidFill>
                  <a:srgbClr val="000000"/>
                </a:solidFill>
                <a:latin typeface="Arial"/>
              </a:rPr>
              <a:t>bus</a:t>
            </a:r>
            <a:r>
              <a:rPr lang="en-US" sz="2600" b="0" strike="noStrike" spc="-1">
                <a:solidFill>
                  <a:srgbClr val="000000"/>
                </a:solidFill>
                <a:latin typeface="Arial"/>
              </a:rPr>
              <a:t>-eve në motherboard.</a:t>
            </a:r>
          </a:p>
          <a:p>
            <a:pPr marL="432000" indent="-324000">
              <a:lnSpc>
                <a:spcPct val="100000"/>
              </a:lnSpc>
              <a:spcBef>
                <a:spcPts val="1417"/>
              </a:spcBef>
              <a:buClr>
                <a:srgbClr val="000000"/>
              </a:buClr>
              <a:buSzPct val="45000"/>
              <a:buFont typeface="Wingdings" charset="2"/>
              <a:buChar char=""/>
            </a:pPr>
            <a:r>
              <a:rPr lang="en-US" sz="2600" b="1" strike="noStrike" spc="-1">
                <a:solidFill>
                  <a:srgbClr val="000000"/>
                </a:solidFill>
                <a:latin typeface="Arial"/>
              </a:rPr>
              <a:t>CMOS/ROM:</a:t>
            </a:r>
            <a:r>
              <a:rPr lang="en-US" sz="2600" b="0" strike="noStrike" spc="-1">
                <a:solidFill>
                  <a:srgbClr val="000000"/>
                </a:solidFill>
                <a:latin typeface="Arial"/>
              </a:rPr>
              <a:t> Një pjesë e kujtesës së pandryshueshme (ROM/flash) ruan firmware-in bazë të kompjuterit, përfshirë kodin e nisjes (BIOS).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laceHolder 1"/>
          <p:cNvSpPr>
            <a:spLocks noGrp="1"/>
          </p:cNvSpPr>
          <p:nvPr>
            <p:ph/>
          </p:nvPr>
        </p:nvSpPr>
        <p:spPr>
          <a:xfrm>
            <a:off x="504000" y="457200"/>
            <a:ext cx="9071280" cy="5028840"/>
          </a:xfrm>
          <a:prstGeom prst="rect">
            <a:avLst/>
          </a:prstGeom>
          <a:noFill/>
          <a:ln w="0">
            <a:noFill/>
          </a:ln>
        </p:spPr>
        <p:txBody>
          <a:bodyPr lIns="0" tIns="0" rIns="0" bIns="0" anchor="t">
            <a:normAutofit/>
          </a:bodyPr>
          <a:lstStyle/>
          <a:p>
            <a:pPr marL="450360" indent="-179640">
              <a:lnSpc>
                <a:spcPct val="115000"/>
              </a:lnSpc>
              <a:spcAft>
                <a:spcPts val="1236"/>
              </a:spcAft>
              <a:buNone/>
              <a:tabLst>
                <a:tab pos="0" algn="l"/>
              </a:tabLst>
            </a:pPr>
            <a:r>
              <a:rPr lang="en-US" sz="2400" b="1" strike="noStrike" spc="-1">
                <a:solidFill>
                  <a:srgbClr val="000000"/>
                </a:solidFill>
                <a:latin typeface="Times New Roman"/>
              </a:rPr>
              <a:t>BIOS (Basic Input/Output System):</a:t>
            </a:r>
            <a:r>
              <a:rPr lang="en-US" sz="2400" b="0" strike="noStrike" spc="-1">
                <a:solidFill>
                  <a:srgbClr val="000000"/>
                </a:solidFill>
                <a:latin typeface="Times New Roman"/>
              </a:rPr>
              <a:t> Firmware në ROM/flash që ekzekutohet sapo ndizet kompjuteri. BIOS-i kryen </a:t>
            </a:r>
            <a:r>
              <a:rPr lang="en-US" sz="2400" b="0" i="1" strike="noStrike" spc="-1">
                <a:solidFill>
                  <a:srgbClr val="000000"/>
                </a:solidFill>
                <a:latin typeface="Times New Roman"/>
              </a:rPr>
              <a:t>Power-On Self-Test (POST)</a:t>
            </a:r>
            <a:r>
              <a:rPr lang="en-US" sz="2400" b="0" strike="noStrike" spc="-1">
                <a:solidFill>
                  <a:srgbClr val="000000"/>
                </a:solidFill>
                <a:latin typeface="Times New Roman"/>
              </a:rPr>
              <a:t> për të kontrolluar komponentët kryesorë (procesorin, memorien, grafiken) dhe më pas përcakton rendin e boot-it (nga disku, USB, etj.) për të ngarkuar sistemin operativ. Përdoruesi mund të hyjë në menynë e BIOS-it (p.sh. me F2/Del) për të ndryshuar parametrat themelorë (data/ora, fjalëkalimi, renditja e boot-it).</a:t>
            </a:r>
            <a:endParaRPr lang="en-US" sz="2400" b="0" strike="noStrike" spc="-1">
              <a:solidFill>
                <a:srgbClr val="000000"/>
              </a:solidFill>
              <a:latin typeface="Arial"/>
            </a:endParaRPr>
          </a:p>
          <a:p>
            <a:pPr marL="450360" indent="-179640">
              <a:lnSpc>
                <a:spcPct val="115000"/>
              </a:lnSpc>
              <a:spcAft>
                <a:spcPts val="1236"/>
              </a:spcAft>
              <a:buNone/>
              <a:tabLst>
                <a:tab pos="0" algn="l"/>
              </a:tabLst>
            </a:pPr>
            <a:r>
              <a:rPr lang="en-US" sz="2400" b="1" strike="noStrike" spc="-1">
                <a:solidFill>
                  <a:srgbClr val="000000"/>
                </a:solidFill>
                <a:latin typeface="Times New Roman"/>
              </a:rPr>
              <a:t>UEFI:</a:t>
            </a:r>
            <a:r>
              <a:rPr lang="en-US" sz="2400" b="0" strike="noStrike" spc="-1">
                <a:solidFill>
                  <a:srgbClr val="000000"/>
                </a:solidFill>
                <a:latin typeface="Times New Roman"/>
              </a:rPr>
              <a:t> Standard modern i firmware-it që zëvendëson BIOS-in në shumicën e kompjuterëve të rinj. UEFI ofron mbështetje për disqe më të mëdha (&gt;2TB), mundësi grafike në menunë e konfigurimit dhe mekanizma sigurie si Secure Boot.</a:t>
            </a:r>
            <a:endParaRPr lang="en-US" sz="24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PlaceHolder 1"/>
          <p:cNvSpPr>
            <a:spLocks noGrp="1"/>
          </p:cNvSpPr>
          <p:nvPr>
            <p:ph/>
          </p:nvPr>
        </p:nvSpPr>
        <p:spPr>
          <a:xfrm>
            <a:off x="529560" y="457200"/>
            <a:ext cx="9071280" cy="5028840"/>
          </a:xfrm>
          <a:prstGeom prst="rect">
            <a:avLst/>
          </a:prstGeom>
          <a:noFill/>
          <a:ln w="0">
            <a:noFill/>
          </a:ln>
        </p:spPr>
        <p:txBody>
          <a:bodyPr lIns="0" tIns="0" rIns="0" bIns="0" anchor="t">
            <a:normAutofit fontScale="87491" lnSpcReduction="10000"/>
          </a:bodyPr>
          <a:lstStyle/>
          <a:p>
            <a:pPr marL="432000" indent="-324000">
              <a:lnSpc>
                <a:spcPct val="100000"/>
              </a:lnSpc>
              <a:spcBef>
                <a:spcPts val="1417"/>
              </a:spcBef>
              <a:buClr>
                <a:srgbClr val="000000"/>
              </a:buClr>
              <a:buSzPct val="45000"/>
              <a:buFont typeface="Wingdings" charset="2"/>
              <a:buChar char=""/>
            </a:pPr>
            <a:r>
              <a:rPr lang="en-US" sz="3200" b="0" strike="noStrike" spc="-1">
                <a:solidFill>
                  <a:srgbClr val="000000"/>
                </a:solidFill>
                <a:latin typeface="DejaVu Serif"/>
              </a:rPr>
              <a:t>  </a:t>
            </a:r>
            <a:r>
              <a:rPr lang="en-US" sz="3200" b="1" strike="noStrike" spc="-1">
                <a:solidFill>
                  <a:srgbClr val="000000"/>
                </a:solidFill>
                <a:latin typeface="DejaVu Serif"/>
              </a:rPr>
              <a:t>Shembull praktik:</a:t>
            </a:r>
            <a:r>
              <a:rPr lang="en-US" sz="3200" b="0" strike="noStrike" spc="-1">
                <a:solidFill>
                  <a:srgbClr val="000000"/>
                </a:solidFill>
                <a:latin typeface="DejaVu Serif"/>
              </a:rPr>
              <a:t> Rinisni(restartoni) kompjuterin dhe gjatë fillimit shtypni </a:t>
            </a:r>
            <a:r>
              <a:rPr lang="en-US" sz="3200" b="0" strike="noStrike" spc="-1">
                <a:solidFill>
                  <a:srgbClr val="000000"/>
                </a:solidFill>
                <a:latin typeface="DejaVu Serif"/>
                <a:ea typeface="Noto Sans Mono CJK SC"/>
              </a:rPr>
              <a:t>F2 ose Del për të hapur menynë e BIOS/UEFI. Shikoni versionin e firmware-it dhe renditjen e pajisjeve në listën e boot-it.</a:t>
            </a:r>
            <a:endParaRPr lang="en-US" sz="3200" b="0" strike="noStrike" spc="-1">
              <a:solidFill>
                <a:srgbClr val="000000"/>
              </a:solidFill>
              <a:latin typeface="DejaVu Serif"/>
            </a:endParaRPr>
          </a:p>
          <a:p>
            <a:pPr marL="432000" indent="-324000">
              <a:lnSpc>
                <a:spcPct val="100000"/>
              </a:lnSpc>
              <a:spcBef>
                <a:spcPts val="1417"/>
              </a:spcBef>
              <a:buClr>
                <a:srgbClr val="000000"/>
              </a:buClr>
              <a:buSzPct val="45000"/>
              <a:buFont typeface="Wingdings" charset="2"/>
              <a:buChar char=""/>
            </a:pPr>
            <a:r>
              <a:rPr lang="en-US" sz="3200" b="1" strike="noStrike" spc="-1">
                <a:solidFill>
                  <a:srgbClr val="000000"/>
                </a:solidFill>
                <a:latin typeface="DejaVu Serif"/>
                <a:ea typeface="Noto Sans Mono CJK SC"/>
              </a:rPr>
              <a:t>Ushtrim:</a:t>
            </a:r>
            <a:r>
              <a:rPr lang="en-US" sz="3200" b="0" strike="noStrike" spc="-1">
                <a:solidFill>
                  <a:srgbClr val="000000"/>
                </a:solidFill>
                <a:latin typeface="DejaVu Serif"/>
                <a:ea typeface="Noto Sans Mono CJK SC"/>
              </a:rPr>
              <a:t> Identifikoni konfigurimin e arkitekturës së kompjuterit tuaj: në Windows hapni </a:t>
            </a:r>
            <a:r>
              <a:rPr lang="en-US" sz="3200" b="1" strike="noStrike" spc="-1">
                <a:solidFill>
                  <a:srgbClr val="000000"/>
                </a:solidFill>
                <a:latin typeface="DejaVu Serif"/>
                <a:ea typeface="Noto Sans Mono CJK SC"/>
              </a:rPr>
              <a:t>“System Information”</a:t>
            </a:r>
            <a:r>
              <a:rPr lang="en-US" sz="3200" b="0" strike="noStrike" spc="-1">
                <a:solidFill>
                  <a:srgbClr val="000000"/>
                </a:solidFill>
                <a:latin typeface="DejaVu Serif"/>
                <a:ea typeface="Noto Sans Mono CJK SC"/>
              </a:rPr>
              <a:t> për të parë modelin e procesorit dhe sasinë e RAM-it; në Linux ekzekutoni lscpu dhe free -h. Më pas përshkruani shkurt procesin se si BIOS/UEFI nis sistemin operativ pas ndezjes.</a:t>
            </a:r>
            <a:endParaRPr lang="en-US" sz="3200" b="0" strike="noStrike" spc="-1">
              <a:solidFill>
                <a:srgbClr val="000000"/>
              </a:solidFill>
              <a:latin typeface="DejaVu Seri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193320"/>
            <a:ext cx="9071280" cy="1011600"/>
          </a:xfrm>
          <a:prstGeom prst="rect">
            <a:avLst/>
          </a:prstGeom>
          <a:noFill/>
          <a:ln w="0">
            <a:noFill/>
          </a:ln>
        </p:spPr>
        <p:txBody>
          <a:bodyPr lIns="0" tIns="0" rIns="0" bIns="0" anchor="ctr">
            <a:noAutofit/>
          </a:bodyPr>
          <a:lstStyle/>
          <a:p>
            <a:pPr marL="900360" indent="0" algn="ctr">
              <a:lnSpc>
                <a:spcPct val="100000"/>
              </a:lnSpc>
              <a:buNone/>
              <a:tabLst>
                <a:tab pos="0" algn="l"/>
              </a:tabLst>
            </a:pPr>
            <a:r>
              <a:rPr lang="sq-AL" sz="3600" b="1" strike="noStrike" spc="-1" dirty="0">
                <a:solidFill>
                  <a:srgbClr val="000000"/>
                </a:solidFill>
                <a:latin typeface="Liberation Serif;Times New Roman"/>
                <a:ea typeface="Noto Serif CJK SC"/>
              </a:rPr>
              <a:t>4. </a:t>
            </a:r>
            <a:r>
              <a:rPr lang="en-US" sz="3600" b="1" strike="noStrike" spc="-1" dirty="0" err="1">
                <a:solidFill>
                  <a:srgbClr val="000000"/>
                </a:solidFill>
                <a:latin typeface="Liberation Serif;Times New Roman"/>
                <a:ea typeface="Noto Serif CJK SC"/>
              </a:rPr>
              <a:t>Llojet</a:t>
            </a:r>
            <a:r>
              <a:rPr lang="en-US" sz="3600" b="1" strike="noStrike" spc="-1" dirty="0">
                <a:solidFill>
                  <a:srgbClr val="000000"/>
                </a:solidFill>
                <a:latin typeface="Liberation Serif;Times New Roman"/>
                <a:ea typeface="Noto Serif CJK SC"/>
              </a:rPr>
              <a:t> e </a:t>
            </a:r>
            <a:r>
              <a:rPr lang="en-US" sz="3600" b="1" strike="noStrike" spc="-1" dirty="0" err="1">
                <a:solidFill>
                  <a:srgbClr val="000000"/>
                </a:solidFill>
                <a:latin typeface="Liberation Serif;Times New Roman"/>
                <a:ea typeface="Noto Serif CJK SC"/>
              </a:rPr>
              <a:t>Ndërfaqeve</a:t>
            </a:r>
            <a:r>
              <a:rPr lang="en-US" sz="3600" b="1" strike="noStrike" spc="-1" dirty="0">
                <a:solidFill>
                  <a:srgbClr val="000000"/>
                </a:solidFill>
                <a:latin typeface="Liberation Serif;Times New Roman"/>
                <a:ea typeface="Noto Serif CJK SC"/>
              </a:rPr>
              <a:t> </a:t>
            </a:r>
            <a:r>
              <a:rPr lang="en-US" sz="3600" b="1" strike="noStrike" spc="-1" dirty="0" err="1">
                <a:solidFill>
                  <a:srgbClr val="000000"/>
                </a:solidFill>
                <a:latin typeface="Liberation Serif;Times New Roman"/>
                <a:ea typeface="Noto Serif CJK SC"/>
              </a:rPr>
              <a:t>të</a:t>
            </a:r>
            <a:r>
              <a:rPr lang="en-US" sz="3600" b="1" strike="noStrike" spc="-1" dirty="0">
                <a:solidFill>
                  <a:srgbClr val="000000"/>
                </a:solidFill>
                <a:latin typeface="Liberation Serif;Times New Roman"/>
                <a:ea typeface="Noto Serif CJK SC"/>
              </a:rPr>
              <a:t> </a:t>
            </a:r>
            <a:r>
              <a:rPr lang="en-US" sz="3600" b="1" strike="noStrike" spc="-1" dirty="0" err="1">
                <a:solidFill>
                  <a:srgbClr val="000000"/>
                </a:solidFill>
                <a:latin typeface="Liberation Serif;Times New Roman"/>
                <a:ea typeface="Noto Serif CJK SC"/>
              </a:rPr>
              <a:t>Përdoruesit</a:t>
            </a:r>
            <a:r>
              <a:rPr lang="en-US" sz="3600" b="1" strike="noStrike" spc="-1" dirty="0">
                <a:solidFill>
                  <a:srgbClr val="000000"/>
                </a:solidFill>
                <a:latin typeface="Liberation Serif;Times New Roman"/>
                <a:ea typeface="Noto Serif CJK SC"/>
              </a:rPr>
              <a:t> (GUI, </a:t>
            </a:r>
            <a:r>
              <a:rPr lang="en-US" sz="3600" b="1" strike="noStrike" spc="-1" dirty="0" err="1">
                <a:solidFill>
                  <a:srgbClr val="000000"/>
                </a:solidFill>
                <a:latin typeface="Liberation Serif;Times New Roman"/>
                <a:ea typeface="Noto Serif CJK SC"/>
              </a:rPr>
              <a:t>Komandë</a:t>
            </a:r>
            <a:r>
              <a:rPr lang="en-US" sz="3600" b="1" strike="noStrike" spc="-1" dirty="0">
                <a:solidFill>
                  <a:srgbClr val="000000"/>
                </a:solidFill>
                <a:latin typeface="Liberation Serif;Times New Roman"/>
                <a:ea typeface="Noto Serif CJK SC"/>
              </a:rPr>
              <a:t>)</a:t>
            </a:r>
            <a:endParaRPr lang="en-US" sz="3600" b="0" strike="noStrike" spc="-1" dirty="0">
              <a:solidFill>
                <a:srgbClr val="000000"/>
              </a:solidFill>
              <a:latin typeface="Arial"/>
            </a:endParaRPr>
          </a:p>
        </p:txBody>
      </p:sp>
      <p:sp>
        <p:nvSpPr>
          <p:cNvPr id="29" name="PlaceHolder 2"/>
          <p:cNvSpPr>
            <a:spLocks noGrp="1"/>
          </p:cNvSpPr>
          <p:nvPr>
            <p:ph/>
          </p:nvPr>
        </p:nvSpPr>
        <p:spPr>
          <a:xfrm>
            <a:off x="504000" y="1326600"/>
            <a:ext cx="9071280" cy="4159440"/>
          </a:xfrm>
          <a:prstGeom prst="rect">
            <a:avLst/>
          </a:prstGeom>
          <a:noFill/>
          <a:ln w="0">
            <a:noFill/>
          </a:ln>
        </p:spPr>
        <p:txBody>
          <a:bodyPr lIns="0" tIns="0" rIns="0" bIns="0" anchor="t">
            <a:normAutofit fontScale="81111"/>
          </a:bodyPr>
          <a:lstStyle/>
          <a:p>
            <a:pPr marL="216000" indent="-216000">
              <a:lnSpc>
                <a:spcPct val="100000"/>
              </a:lnSpc>
              <a:spcBef>
                <a:spcPts val="1417"/>
              </a:spcBef>
              <a:buClr>
                <a:srgbClr val="000000"/>
              </a:buClr>
              <a:buSzPct val="45000"/>
              <a:buFont typeface="Wingdings" charset="2"/>
              <a:buChar char=""/>
            </a:pPr>
            <a:r>
              <a:rPr lang="en-US" sz="2800" b="0" strike="noStrike" spc="-1">
                <a:solidFill>
                  <a:srgbClr val="000000"/>
                </a:solidFill>
                <a:latin typeface="DejaVu Serif"/>
              </a:rPr>
              <a:t>Sistemet operative ofrojnë dy ndërfaqe kryesore për ndërveprim: </a:t>
            </a:r>
            <a:r>
              <a:rPr lang="en-US" sz="2800" b="1" strike="noStrike" spc="-1">
                <a:solidFill>
                  <a:srgbClr val="000000"/>
                </a:solidFill>
                <a:latin typeface="DejaVu Serif"/>
              </a:rPr>
              <a:t>Linja e komandës (CLI)</a:t>
            </a:r>
            <a:r>
              <a:rPr lang="en-US" sz="2800" b="0" strike="noStrike" spc="-1">
                <a:solidFill>
                  <a:srgbClr val="000000"/>
                </a:solidFill>
                <a:latin typeface="DejaVu Serif"/>
              </a:rPr>
              <a:t> dhe </a:t>
            </a:r>
            <a:r>
              <a:rPr lang="en-US" sz="2800" b="1" strike="noStrike" spc="-1">
                <a:solidFill>
                  <a:srgbClr val="000000"/>
                </a:solidFill>
                <a:latin typeface="DejaVu Serif"/>
              </a:rPr>
              <a:t>Ndërfaqja grafike (GUI)</a:t>
            </a:r>
            <a:r>
              <a:rPr lang="en-US" sz="2800" b="0" strike="noStrike" spc="-1">
                <a:solidFill>
                  <a:srgbClr val="000000"/>
                </a:solidFill>
                <a:latin typeface="DejaVu Serif"/>
              </a:rPr>
              <a:t>. Në CLI përdoruesi shkruan komanda tekstuale në një terminal; në GUI ai përdor ikonat dhe dritaret për të kontrolluar programet.</a:t>
            </a:r>
            <a:endParaRPr lang="en-US" sz="2800" b="0" strike="noStrike" spc="-1">
              <a:solidFill>
                <a:srgbClr val="000000"/>
              </a:solidFill>
              <a:latin typeface="Arial"/>
            </a:endParaRPr>
          </a:p>
          <a:p>
            <a:pPr marL="216000" indent="-216000">
              <a:lnSpc>
                <a:spcPct val="100000"/>
              </a:lnSpc>
              <a:spcBef>
                <a:spcPts val="1417"/>
              </a:spcBef>
              <a:buClr>
                <a:srgbClr val="000000"/>
              </a:buClr>
              <a:buSzPct val="45000"/>
              <a:buFont typeface="Wingdings" charset="2"/>
              <a:buChar char=""/>
            </a:pPr>
            <a:r>
              <a:rPr lang="en-US" sz="2800" b="1" strike="noStrike" spc="-1">
                <a:solidFill>
                  <a:srgbClr val="000000"/>
                </a:solidFill>
                <a:latin typeface="DejaVu Serif"/>
              </a:rPr>
              <a:t>Komandë (CLI):</a:t>
            </a:r>
            <a:r>
              <a:rPr lang="en-US" sz="2800" b="0" strike="noStrike" spc="-1">
                <a:solidFill>
                  <a:srgbClr val="000000"/>
                </a:solidFill>
                <a:latin typeface="DejaVu Serif"/>
              </a:rPr>
              <a:t> Përdoruesi shkruan komandat në formë teksti (p.sh. </a:t>
            </a:r>
            <a:r>
              <a:rPr lang="en-US" sz="2800" b="0" strike="noStrike" spc="-1">
                <a:solidFill>
                  <a:srgbClr val="000000"/>
                </a:solidFill>
                <a:latin typeface="DejaVu Serif"/>
                <a:ea typeface="Noto Sans Mono CJK SC"/>
              </a:rPr>
              <a:t>dir, ls, ping). Një shell (si Bash në Linux apo Command Prompt/PowerShell në Windows) ekzekuton këto komanda. CLI është shumë i fuqishëm për detyra komplekse dhe automatizime (p.sh. skriptim), por kërkon njohuri të komandave dhe sintaksës.</a:t>
            </a:r>
            <a:endParaRPr lang="en-US" sz="28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PlaceHolder 1"/>
          <p:cNvSpPr>
            <a:spLocks noGrp="1"/>
          </p:cNvSpPr>
          <p:nvPr>
            <p:ph/>
          </p:nvPr>
        </p:nvSpPr>
        <p:spPr>
          <a:xfrm>
            <a:off x="504000" y="457200"/>
            <a:ext cx="9071280" cy="5028840"/>
          </a:xfrm>
          <a:prstGeom prst="rect">
            <a:avLst/>
          </a:prstGeom>
          <a:noFill/>
          <a:ln w="0">
            <a:noFill/>
          </a:ln>
        </p:spPr>
        <p:txBody>
          <a:bodyPr lIns="0" tIns="0" rIns="0" bIns="0" anchor="t">
            <a:normAutofit fontScale="83888" lnSpcReduction="10000"/>
          </a:bodyPr>
          <a:lstStyle/>
          <a:p>
            <a:pPr marL="216000" indent="-216000">
              <a:lnSpc>
                <a:spcPct val="100000"/>
              </a:lnSpc>
              <a:spcBef>
                <a:spcPts val="1191"/>
              </a:spcBef>
              <a:spcAft>
                <a:spcPts val="992"/>
              </a:spcAft>
              <a:buClr>
                <a:srgbClr val="000000"/>
              </a:buClr>
              <a:buSzPct val="45000"/>
              <a:buFont typeface="Wingdings" charset="2"/>
              <a:buChar char=""/>
            </a:pPr>
            <a:r>
              <a:rPr lang="en-US" sz="3200" b="0" strike="noStrike" spc="-1">
                <a:solidFill>
                  <a:srgbClr val="000000"/>
                </a:solidFill>
                <a:latin typeface="Arial"/>
              </a:rPr>
              <a:t>   </a:t>
            </a:r>
            <a:r>
              <a:rPr lang="en-US" sz="3200" b="1" strike="noStrike" spc="-1">
                <a:solidFill>
                  <a:srgbClr val="000000"/>
                </a:solidFill>
                <a:latin typeface="Arial"/>
              </a:rPr>
              <a:t>Grafik (GUI):</a:t>
            </a:r>
            <a:r>
              <a:rPr lang="en-US" sz="3200" b="0" strike="noStrike" spc="-1">
                <a:solidFill>
                  <a:srgbClr val="000000"/>
                </a:solidFill>
                <a:latin typeface="Arial"/>
              </a:rPr>
              <a:t> Përfshin dritare, menu dhe ikona që kontrollohen me maus ose ekran me prekje (screentouch). Për shembull, në Windows klikimi mbi ikonën "This PC" hap një dritare me disqet e kompjuterit; në macOS klikohet në Dock-in e aplikacioneve. GUI-ja është më lehtë për përdoruesit e zakonshëm dhe nuk kërkon mësim komandash specifike.</a:t>
            </a:r>
          </a:p>
          <a:p>
            <a:pPr marL="450360" indent="-179640">
              <a:lnSpc>
                <a:spcPct val="115000"/>
              </a:lnSpc>
              <a:spcAft>
                <a:spcPts val="1236"/>
              </a:spcAft>
              <a:buClr>
                <a:srgbClr val="000000"/>
              </a:buClr>
              <a:buSzPct val="45000"/>
              <a:buFont typeface="Wingdings" charset="2"/>
              <a:buChar char=""/>
              <a:tabLst>
                <a:tab pos="450360" algn="l"/>
              </a:tabLst>
            </a:pPr>
            <a:r>
              <a:rPr lang="en-US" sz="3200" b="1" strike="noStrike" spc="-1">
                <a:solidFill>
                  <a:srgbClr val="000000"/>
                </a:solidFill>
                <a:latin typeface="Times New Roman"/>
              </a:rPr>
              <a:t>Përparësitë:</a:t>
            </a:r>
            <a:r>
              <a:rPr lang="en-US" sz="3200" b="0" strike="noStrike" spc="-1">
                <a:solidFill>
                  <a:srgbClr val="000000"/>
                </a:solidFill>
                <a:latin typeface="Times New Roman"/>
              </a:rPr>
              <a:t> GUI-ja është më e lehtë për t’u mësuar dhe përdorur (ikonat dhe dritaret e bëjnë të gjitha vizuale). CLI-ja ofron kontroll të plotë dhe mundësi skriptimi për detyra të përsëritura, dhe zakonisht kërkon më pak burime kompjuterike.</a:t>
            </a:r>
            <a:endParaRPr lang="en-US" sz="32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PlaceHolder 1"/>
          <p:cNvSpPr>
            <a:spLocks noGrp="1"/>
          </p:cNvSpPr>
          <p:nvPr>
            <p:ph/>
          </p:nvPr>
        </p:nvSpPr>
        <p:spPr>
          <a:xfrm>
            <a:off x="504000" y="457200"/>
            <a:ext cx="9071280" cy="5028840"/>
          </a:xfrm>
          <a:prstGeom prst="rect">
            <a:avLst/>
          </a:prstGeom>
          <a:noFill/>
          <a:ln w="0">
            <a:noFill/>
          </a:ln>
        </p:spPr>
        <p:txBody>
          <a:bodyPr lIns="0" tIns="0" rIns="0" bIns="0" anchor="t">
            <a:normAutofit fontScale="96666" lnSpcReduction="10000"/>
          </a:bodyPr>
          <a:lstStyle/>
          <a:p>
            <a:pPr marL="216000" indent="-216000">
              <a:lnSpc>
                <a:spcPct val="100000"/>
              </a:lnSpc>
              <a:spcBef>
                <a:spcPts val="1417"/>
              </a:spcBef>
              <a:buClr>
                <a:srgbClr val="000000"/>
              </a:buClr>
              <a:buSzPct val="45000"/>
              <a:buFont typeface="Wingdings" charset="2"/>
              <a:buChar char=""/>
            </a:pPr>
            <a:r>
              <a:rPr lang="en-US" sz="3200" b="0" strike="noStrike" spc="-1">
                <a:solidFill>
                  <a:srgbClr val="000000"/>
                </a:solidFill>
                <a:latin typeface="DejaVu Serif"/>
              </a:rPr>
              <a:t>   </a:t>
            </a:r>
            <a:r>
              <a:rPr lang="en-US" sz="3200" b="1" strike="noStrike" spc="-1">
                <a:solidFill>
                  <a:srgbClr val="000000"/>
                </a:solidFill>
                <a:latin typeface="DejaVu Serif"/>
              </a:rPr>
              <a:t>Përdorimi i të dyve:</a:t>
            </a:r>
            <a:r>
              <a:rPr lang="en-US" sz="3200" b="0" strike="noStrike" spc="-1">
                <a:solidFill>
                  <a:srgbClr val="000000"/>
                </a:solidFill>
                <a:latin typeface="DejaVu Serif"/>
              </a:rPr>
              <a:t> Shumë sisteme moderne mbështesin dhe CLI dhe GUI. Për shembull, mund të hapni një terminal brenda mjedisit grafik: në Windows shtypni </a:t>
            </a:r>
            <a:r>
              <a:rPr lang="en-US" sz="3200" b="0" strike="noStrike" spc="-1">
                <a:solidFill>
                  <a:srgbClr val="000000"/>
                </a:solidFill>
                <a:latin typeface="DejaVu Serif"/>
                <a:ea typeface="Noto Sans Mono CJK SC"/>
              </a:rPr>
              <a:t>Win+R, shkruani cmd dhe hapni Command Prompt; në Ubuntu hapni aplikacionin "Terminal".</a:t>
            </a:r>
            <a:endParaRPr lang="en-US" sz="3200" b="0" strike="noStrike" spc="-1">
              <a:solidFill>
                <a:srgbClr val="000000"/>
              </a:solidFill>
              <a:latin typeface="Arial"/>
            </a:endParaRPr>
          </a:p>
          <a:p>
            <a:pPr marL="450360" indent="-179640">
              <a:lnSpc>
                <a:spcPct val="115000"/>
              </a:lnSpc>
              <a:spcAft>
                <a:spcPts val="1236"/>
              </a:spcAft>
              <a:buClr>
                <a:srgbClr val="000000"/>
              </a:buClr>
              <a:buSzPct val="45000"/>
              <a:buFont typeface="Wingdings" charset="2"/>
              <a:buChar char=""/>
              <a:tabLst>
                <a:tab pos="450360" algn="l"/>
              </a:tabLst>
            </a:pPr>
            <a:r>
              <a:rPr lang="en-US" sz="2400" b="1" strike="noStrike" spc="-1">
                <a:solidFill>
                  <a:srgbClr val="000000"/>
                </a:solidFill>
                <a:latin typeface="DejaVu Serif"/>
                <a:ea typeface="Noto Sans Mono CJK SC"/>
              </a:rPr>
              <a:t>Shembull praktik:</a:t>
            </a:r>
            <a:r>
              <a:rPr lang="en-US" sz="2400" b="0" strike="noStrike" spc="-1">
                <a:solidFill>
                  <a:srgbClr val="000000"/>
                </a:solidFill>
                <a:latin typeface="DejaVu Serif"/>
                <a:ea typeface="Noto Sans Mono CJK SC"/>
              </a:rPr>
              <a:t> Në Linux, hapni terminalin dhe shkruani echo "Përshëndetje nga CLI". Teksti do të shfaqet në linjën e komandës. Në Windows, hapni aplikacionin Paint nga menuja Start dhe vizatoni me maus në dritare për të parë ndërfaqen grafike në veprim.</a:t>
            </a:r>
            <a:endParaRPr lang="en-US" sz="24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PlaceHolder 1"/>
          <p:cNvSpPr>
            <a:spLocks noGrp="1"/>
          </p:cNvSpPr>
          <p:nvPr>
            <p:ph/>
          </p:nvPr>
        </p:nvSpPr>
        <p:spPr>
          <a:xfrm>
            <a:off x="504000" y="228600"/>
            <a:ext cx="9071280" cy="5257440"/>
          </a:xfrm>
          <a:prstGeom prst="rect">
            <a:avLst/>
          </a:prstGeom>
          <a:noFill/>
          <a:ln w="0">
            <a:noFill/>
          </a:ln>
        </p:spPr>
        <p:txBody>
          <a:bodyPr lIns="0" tIns="0" rIns="0" bIns="0" anchor="t">
            <a:normAutofit/>
          </a:bodyPr>
          <a:lstStyle/>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a:t>
            </a:r>
            <a:r>
              <a:rPr lang="en-US" sz="2800" b="1" strike="noStrike" spc="-1">
                <a:solidFill>
                  <a:srgbClr val="000000"/>
                </a:solidFill>
                <a:latin typeface="Arial"/>
              </a:rPr>
              <a:t>Ushtrim:</a:t>
            </a:r>
            <a:r>
              <a:rPr lang="en-US" sz="2800" b="0" strike="noStrike" spc="-1">
                <a:solidFill>
                  <a:srgbClr val="000000"/>
                </a:solidFill>
                <a:latin typeface="Arial"/>
              </a:rPr>
              <a:t> Eksperimentoni me GUI/CLI: krijoni një skedar të ri përmes ndërfaqes grafike (klikoni djathtas në desktop &gt; New &gt; Text Document). Pastaj hapni terminalin/Command Prompt-in dhe verifikoni që skedari ekziston duke shkruar dir (Windows) ose ls (Linux). Jepni komandën për ta fshirë skedarin nga CLI (p.sh. del Prova.txt në Windows ose rm Prova.txt në Linux) dhe analizoni ndryshimin në ndërfaqen grafike.</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TotalTime>
  <Words>1758</Words>
  <Application>Microsoft Office PowerPoint</Application>
  <PresentationFormat>Custom</PresentationFormat>
  <Paragraphs>45</Paragraphs>
  <Slides>15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Arial</vt:lpstr>
      <vt:lpstr>DejaVu Serif</vt:lpstr>
      <vt:lpstr>Liberation Serif;Times New Roman</vt:lpstr>
      <vt:lpstr>Symbol</vt:lpstr>
      <vt:lpstr>Times New Roman</vt:lpstr>
      <vt:lpstr>Wingdings</vt:lpstr>
      <vt:lpstr>Office</vt:lpstr>
      <vt:lpstr>Office</vt:lpstr>
      <vt:lpstr>Sistemet Operative</vt:lpstr>
      <vt:lpstr>1. Sistemi Operativ dhe Ndarja e tij</vt:lpstr>
      <vt:lpstr>PowerPoint Presentation</vt:lpstr>
      <vt:lpstr>PowerPoint Presentation</vt:lpstr>
      <vt:lpstr>PowerPoint Presentation</vt:lpstr>
      <vt:lpstr>2. Ndërfaqja e Përdoruesit</vt:lpstr>
      <vt:lpstr>PowerPoint Presentation</vt:lpstr>
      <vt:lpstr>3. Arkitektura e Kompjuterit dhe BIOS-i</vt:lpstr>
      <vt:lpstr>PowerPoint Presentation</vt:lpstr>
      <vt:lpstr>PowerPoint Presentation</vt:lpstr>
      <vt:lpstr>PowerPoint Presentation</vt:lpstr>
      <vt:lpstr>4. Llojet e Ndërfaqeve të Përdoruesit (GUI, Komandë)</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Taxhidin Kadiri</cp:lastModifiedBy>
  <cp:revision>18</cp:revision>
  <dcterms:created xsi:type="dcterms:W3CDTF">2025-09-28T14:23:35Z</dcterms:created>
  <dcterms:modified xsi:type="dcterms:W3CDTF">2025-09-29T00:20:22Z</dcterms:modified>
  <dc:language>en-US</dc:language>
</cp:coreProperties>
</file>